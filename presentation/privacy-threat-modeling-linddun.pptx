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6900d44a3449b" /><Relationship Type="http://schemas.openxmlformats.org/officeDocument/2006/relationships/extended-properties" Target="/docProps/app.xml" Id="Rf764fe26c22b4bbf" /><Relationship Type="http://schemas.openxmlformats.org/officeDocument/2006/relationships/officeDocument" Target="/ppt/presentation.xml" Id="Rf9279bc68f34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3fe47778804ed5"/>
  </p:sldMasterIdLst>
  <p:notesMasterIdLst>
    <p:notesMasterId xmlns:r="http://schemas.openxmlformats.org/officeDocument/2006/relationships" r:id="Rdf9d00d91a69483e"/>
  </p:notesMasterIdLst>
  <p:sldIdLst>
    <p:sldId xmlns:r="http://schemas.openxmlformats.org/officeDocument/2006/relationships" id="256" r:id="Rf8bc1c7b129d4616"/>
    <p:sldId xmlns:r="http://schemas.openxmlformats.org/officeDocument/2006/relationships" id="257" r:id="R10c1355e223c4c1d"/>
    <p:sldId xmlns:r="http://schemas.openxmlformats.org/officeDocument/2006/relationships" id="258" r:id="R59ebf6abafec47e0"/>
    <p:sldId xmlns:r="http://schemas.openxmlformats.org/officeDocument/2006/relationships" id="259" r:id="R28ff7f59db5940e1"/>
    <p:sldId xmlns:r="http://schemas.openxmlformats.org/officeDocument/2006/relationships" id="260" r:id="R0c83bcb7da4e4e2d"/>
    <p:sldId xmlns:r="http://schemas.openxmlformats.org/officeDocument/2006/relationships" id="261" r:id="Rda51f40f5e8a4609"/>
    <p:sldId xmlns:r="http://schemas.openxmlformats.org/officeDocument/2006/relationships" id="262" r:id="Rd2b3cbb948334898"/>
    <p:sldId xmlns:r="http://schemas.openxmlformats.org/officeDocument/2006/relationships" id="263" r:id="Rd4dca2f8194b4e36"/>
    <p:sldId xmlns:r="http://schemas.openxmlformats.org/officeDocument/2006/relationships" id="264" r:id="Re09e8b5858f94a92"/>
    <p:sldId xmlns:r="http://schemas.openxmlformats.org/officeDocument/2006/relationships" id="265" r:id="R1e71efbe70bf4afb"/>
    <p:sldId xmlns:r="http://schemas.openxmlformats.org/officeDocument/2006/relationships" id="266" r:id="Rb818fb8a18a049c8"/>
    <p:sldId xmlns:r="http://schemas.openxmlformats.org/officeDocument/2006/relationships" id="267" r:id="Rd68a159e68714b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8794ed24e484f" /><Relationship Type="http://schemas.openxmlformats.org/officeDocument/2006/relationships/slideMaster" Target="/ppt/slideMasters/slideMaster1.xml" Id="R863fe47778804ed5" /><Relationship Type="http://schemas.openxmlformats.org/officeDocument/2006/relationships/notesMaster" Target="/ppt/notesMasters/notesMaster1.xml" Id="Rdf9d00d91a69483e" /><Relationship Type="http://schemas.openxmlformats.org/officeDocument/2006/relationships/presProps" Target="/ppt/presProps.xml" Id="R4de225a8d8b145a0" /><Relationship Type="http://schemas.openxmlformats.org/officeDocument/2006/relationships/tableStyles" Target="/ppt/tableStyles.xml" Id="Rcc24dbbfe8fb456e" /><Relationship Type="http://schemas.openxmlformats.org/officeDocument/2006/relationships/slide" Target="/ppt/slides/slide1.xml" Id="Rf8bc1c7b129d4616" /><Relationship Type="http://schemas.openxmlformats.org/officeDocument/2006/relationships/slide" Target="/ppt/slides/slide2.xml" Id="R10c1355e223c4c1d" /><Relationship Type="http://schemas.openxmlformats.org/officeDocument/2006/relationships/slide" Target="/ppt/slides/slide3.xml" Id="R59ebf6abafec47e0" /><Relationship Type="http://schemas.openxmlformats.org/officeDocument/2006/relationships/slide" Target="/ppt/slides/slide4.xml" Id="R28ff7f59db5940e1" /><Relationship Type="http://schemas.openxmlformats.org/officeDocument/2006/relationships/slide" Target="/ppt/slides/slide5.xml" Id="R0c83bcb7da4e4e2d" /><Relationship Type="http://schemas.openxmlformats.org/officeDocument/2006/relationships/slide" Target="/ppt/slides/slide6.xml" Id="Rda51f40f5e8a4609" /><Relationship Type="http://schemas.openxmlformats.org/officeDocument/2006/relationships/slide" Target="/ppt/slides/slide7.xml" Id="Rd2b3cbb948334898" /><Relationship Type="http://schemas.openxmlformats.org/officeDocument/2006/relationships/slide" Target="/ppt/slides/slide8.xml" Id="Rd4dca2f8194b4e36" /><Relationship Type="http://schemas.openxmlformats.org/officeDocument/2006/relationships/slide" Target="/ppt/slides/slide9.xml" Id="Re09e8b5858f94a92" /><Relationship Type="http://schemas.openxmlformats.org/officeDocument/2006/relationships/slide" Target="/ppt/slides/slide10.xml" Id="R1e71efbe70bf4afb" /><Relationship Type="http://schemas.openxmlformats.org/officeDocument/2006/relationships/slide" Target="/ppt/slides/slide11.xml" Id="Rb818fb8a18a049c8" /><Relationship Type="http://schemas.openxmlformats.org/officeDocument/2006/relationships/slide" Target="/ppt/slides/slide12.xml" Id="Rd68a159e68714b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6b6b98e5d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127c76fc624749" /><Relationship Type="http://schemas.openxmlformats.org/officeDocument/2006/relationships/notesMaster" Target="/ppt/notesMasters/notesMaster1.xml" Id="R4ece586031de41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f96c462e7a486c" /><Relationship Type="http://schemas.openxmlformats.org/officeDocument/2006/relationships/notesMaster" Target="/ppt/notesMasters/notesMaster1.xml" Id="R28a61fdc4c10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8d19806ce4dd8" /><Relationship Type="http://schemas.openxmlformats.org/officeDocument/2006/relationships/notesMaster" Target="/ppt/notesMasters/notesMaster1.xml" Id="Rbea6b404aee84e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b5ab69a1cd4f64" /><Relationship Type="http://schemas.openxmlformats.org/officeDocument/2006/relationships/notesMaster" Target="/ppt/notesMasters/notesMaster1.xml" Id="R1f5a328d4203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1e6184a9754f9b" /><Relationship Type="http://schemas.openxmlformats.org/officeDocument/2006/relationships/notesMaster" Target="/ppt/notesMasters/notesMaster1.xml" Id="Rbf39d695f3674d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73e5eaa5d24ee5" /><Relationship Type="http://schemas.openxmlformats.org/officeDocument/2006/relationships/notesMaster" Target="/ppt/notesMasters/notesMaster1.xml" Id="R08ce465f5407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77458c3fd94916" /><Relationship Type="http://schemas.openxmlformats.org/officeDocument/2006/relationships/notesMaster" Target="/ppt/notesMasters/notesMaster1.xml" Id="R5add1682c4d4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d94d4444f2490f" /><Relationship Type="http://schemas.openxmlformats.org/officeDocument/2006/relationships/notesMaster" Target="/ppt/notesMasters/notesMaster1.xml" Id="Rc72182ef63d741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ed0b2f6b34908" /><Relationship Type="http://schemas.openxmlformats.org/officeDocument/2006/relationships/notesMaster" Target="/ppt/notesMasters/notesMaster1.xml" Id="R557f6603510342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1a252db284cd6" /><Relationship Type="http://schemas.openxmlformats.org/officeDocument/2006/relationships/notesMaster" Target="/ppt/notesMasters/notesMaster1.xml" Id="R98a5eb01f9f346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caf3f96f9c4221" /><Relationship Type="http://schemas.openxmlformats.org/officeDocument/2006/relationships/notesMaster" Target="/ppt/notesMasters/notesMaster1.xml" Id="R2f4e6f75b3a941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35d25ec569434a" /><Relationship Type="http://schemas.openxmlformats.org/officeDocument/2006/relationships/notesMaster" Target="/ppt/notesMasters/notesMaster1.xml" Id="R8dcfadd06b48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created for this project with OpenAI image generation. The system scenario is an academic case study and does not represent a live university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counts come from the repository threat register, control plan, and verification plan. Risk scores are design assumptions for prioritization, not measured production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elements and data assets are derived from the supplied academic scenario. The model is documented in model/system-model.md and model/data-flow-inventory.csv.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LINDDUN homepage https://linddun.org/ ; LINDDUN threat trees https://linddun.org/threat-trees/ ; LINDDUN PRO https://linddun.org/pro/ ; NIST Privacy Framework entry https://www.nist.gov/privacy-framework/linddun-privacy-threat-modeling-framework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conceptual DFD based on the supplied scenario. The detailed inventory appears in model/data-flow-inventory.csv. Boundaries are analysis labels for this portfolio edition.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Scores come from analysis/linddun-threat-register.csv. Likelihood and impact use a 1 to 5 scale. Bands: 1–4 Low, 5–9 Medium, 10–16 High, 17–25 Critical. These are design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eight scenarios preserve the substance of the original team assignment. The source was written in Greek. The public edition removes registration numbers and personal contact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added scenarios are independent portfolio work. They are labeled Portfolio extension in analysis/linddun-threat-register.csv and are not attributed to the original academic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details, ownership, and expected evidence are in controls/mitigation-plan.md. Strategy terms align with Hoepman, Privacy Design Strategies, DOI 10.1007/978-3-642-55415-5_38.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Traceability examples come from analysis/linddun-threat-register.csv and controls/verification-plan.md.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test procedure and acceptance criteria appear in controls/verification-plan.md.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https://linddun.org/ ; https://linddun.org/threat-trees/ ; https://linddun.org/pro/ ; https://www.nist.gov/privacy-framework/linddun-privacy-threat-modeling-framework ; https://eur-lex.europa.eu/eli/reg/2016/679/oj/eng ; https://doi.org/10.1007/978-3-642-55415-5_38. The raw academic submission is excluded because it contains personal identifiers and team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88f8c2438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595bca82f4d4b" /><Relationship Type="http://schemas.openxmlformats.org/officeDocument/2006/relationships/slideLayout" Target="/ppt/slideLayouts/slideLayout1.xml" Id="Rfebf90f6e714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bf90f6e714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30d8a87bb4639" /><Relationship Type="http://schemas.openxmlformats.org/officeDocument/2006/relationships/image" Target="/ppt/media/image.png" Id="R5b0da846b9984b3c" /><Relationship Type="http://schemas.openxmlformats.org/officeDocument/2006/relationships/notesSlide" Target="/ppt/notesSlides/notesSlide1.xml" Id="R120296b4084f48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af35864c442b0" /><Relationship Type="http://schemas.openxmlformats.org/officeDocument/2006/relationships/notesSlide" Target="/ppt/notesSlides/notesSlide2.xml" Id="Rd163a79ab993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1b4a0f4434793" /><Relationship Type="http://schemas.openxmlformats.org/officeDocument/2006/relationships/notesSlide" Target="/ppt/notesSlides/notesSlide3.xml" Id="Rd025a68ebd194c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86aecd0b41c0" /><Relationship Type="http://schemas.openxmlformats.org/officeDocument/2006/relationships/notesSlide" Target="/ppt/notesSlides/notesSlide4.xml" Id="R763ae9bc41d043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446f94f7407a" /><Relationship Type="http://schemas.openxmlformats.org/officeDocument/2006/relationships/notesSlide" Target="/ppt/notesSlides/notesSlide5.xml" Id="Rd744e1c8c2974b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96322c624eb1" /><Relationship Type="http://schemas.openxmlformats.org/officeDocument/2006/relationships/notesSlide" Target="/ppt/notesSlides/notesSlide6.xml" Id="R80bd650d6a7642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b4149cffa45e1" /><Relationship Type="http://schemas.openxmlformats.org/officeDocument/2006/relationships/notesSlide" Target="/ppt/notesSlides/notesSlide7.xml" Id="Rfa3c93a6f8ce48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b3b9597ab4631" /><Relationship Type="http://schemas.openxmlformats.org/officeDocument/2006/relationships/notesSlide" Target="/ppt/notesSlides/notesSlide8.xml" Id="Rf27fcdfebd74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a5bac1e6f4cf9" /><Relationship Type="http://schemas.openxmlformats.org/officeDocument/2006/relationships/notesSlide" Target="/ppt/notesSlides/notesSlide9.xml" Id="R7c0fba92c5e740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89e8f87434ab3" /><Relationship Type="http://schemas.openxmlformats.org/officeDocument/2006/relationships/notesSlide" Target="/ppt/notesSlides/notesSlide10.xml" Id="Reaaf54d7874948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7940bf7524a71" /><Relationship Type="http://schemas.openxmlformats.org/officeDocument/2006/relationships/notesSlide" Target="/ppt/notesSlides/notesSlide11.xml" Id="R470e58167b5d4e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87f9c60fb4753" /><Relationship Type="http://schemas.openxmlformats.org/officeDocument/2006/relationships/notesSlide" Target="/ppt/notesSlides/notesSlide12.xml" Id="Rc018cbb0c71a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da846b9984b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9D496-1C9B-4FA5-9852-B8B7760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74B8F-DA1B-4B7F-AC55-1FB489C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832F-E428-4C07-B404-F23F09E3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PRIVACY THREAT MODELING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E2BC0-F609-4DE1-A108-C68240FE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LINDDUN for 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Student Information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59D46-F83A-4A30-8B63-2CC8749E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From data flows to testable privacy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FA52C-1CF5-40C4-89D6-3C2FB8BE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Spyridon Grouztidis  •  Public portfolio edition</a:t>
            </a:r>
          </a:p>
        </p:txBody>
      </p:sp>
    </p:spTree>
    <p:extLst>
      <p:ext uri="{BB962C8B-B14F-4D97-AF65-F5344CB8AC3E}">
        <p14:creationId xmlns:p14="http://schemas.microsoft.com/office/powerpoint/2010/main" val="915073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E50A9-CC39-4765-A324-15C59633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EXECUTIVE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94E0F-4D7D-4847-A78C-9572F15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model turns privacy concerns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3A3D0-0F1D-4429-8C2A-C011ADF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EDE46-AE92-4604-A307-B8605789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15835-47AF-4C97-B8EC-A04704C2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9E38-D243-40F8-BE63-4F414C3F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57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60CD2-968E-4D47-9E5A-A93B51A6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threat scenarios across all seven LINDDUN 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F05D8-1CF4-4BF6-856D-9ED3662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38300"/>
            <a:ext cx="22383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1A39B-0C67-42A6-AF01-B5648E9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38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B5CF2-23D4-4806-866D-1A8F92BD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8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20/25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2BCA5-67AA-4CD9-A967-C2D4429D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57425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Highest inherent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DB740-F2C1-4F55-B1BB-65F565E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22383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465FC-E26B-4729-ADE3-A7EF886D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3FB88-3A71-4EB1-ABAF-BF5FF6B2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716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8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85EB-6BE2-4CC1-B3A1-9239A612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57425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Mapped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2C91A-5F00-4BEF-8665-41AFB2E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2383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CEE49-AD16-4263-BCD6-5D700E84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1392A-45A3-4E25-AAB6-D3117E63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8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016AE-0750-4042-85AC-5445D673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57425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Verification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2A5AB-F9B7-4B5C-BC99-EB5A1631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Primary 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59B2F-CA06-4ED3-BABB-3F8A5870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667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6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Combining identity, contact, enrollment, grades, and audit data in one operational store creates the most serious privacy exposure. Cloud backup and secondary analytics extend that exposure across trust boundaries.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AA42A-8C67-4476-8012-989DBBB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1B127-4692-4EEF-BBAE-75C313D5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2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Reduce data and identifier reuse before adding more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7BB30-8A51-4DB3-BC4B-C4DB3A7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0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F1E69-6521-4AF9-A53A-688480E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2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Treat transparency and provider evidence as product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4470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9778BD-6E28-4784-B872-087BBC8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57B75-72AE-4DDA-B27E-9B6AFE0E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System scope and privacy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0BBF5-AEA0-4430-8B70-201BDE5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1C03B-EE33-4E98-A280-65A5C5D5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42D53-BD43-4ECC-8ED2-C8291436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0047-8848-4AC9-A428-4DF47FC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6115F-AA75-4D98-8DEA-72CC6B6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F348F-F43B-4A52-AABB-4C6C736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F1A29-BFA9-4DDE-9204-8D3370AB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F9FA8-7E84-41D6-B2B1-F394E777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Instructors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1D907-766C-43DF-BFDF-775F6345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39F77-E519-4196-AE9A-F98BC40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Registry staff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B01ED-272E-491E-B458-121A2D80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CE6BC-9390-47FB-B8CF-75088F42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Subsystem administrator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8EE7F-3C1E-4125-A336-458FB86A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BDEBE-BE47-48FD-BEBA-7B68FE49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Evaluation administrator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28201-AA4E-4F5F-8D8E-1C787D1A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20C37-C5FC-4EEC-BF8A-4D61E536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and SMS providers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6B6DE-3514-48BD-81C6-1AA01C88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62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Personal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7A5B2-32AA-4BF5-B8E0-7D70D7F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Identity and contact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EB212-FD62-4663-BEF3-8AB5AA4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145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Direct identifiers and communication details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917D5-AA2B-4484-903C-1AC8DCDA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Academic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8AD5E-567A-4AE8-B9D6-DDB6C91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Enrollment, grades, transcripts, study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2CA62-53CC-4207-B3B2-8ECD767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Authentication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7A7D8-2CC9-47CB-9BF6-28132AD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Verification events, devices, timestamps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FF919-B121-4EB4-B024-41D6EB9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86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Audit and statistics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1D73D-F928-4A27-A971-198B4961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0062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Actions, usage patterns, small cohorts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FFB39-D8BF-45C9-BC4B-46BA2C3A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429000" cy="37338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021E0-1444-46DC-A8DD-6A2FF2A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Five trust boundaries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9082C-BA09-40A6-A360-41F712B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38F88-87D0-4DDF-9592-C44945BE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User device to university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7925C5-77D3-44B0-877C-CE91D31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7DDB9-DFA6-4796-9199-8788B164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Subsystem to evaluation 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F4A0E8-952D-4182-9ADE-FA3605D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16981-1947-4A21-AC91-C7183B2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University to cloud provider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32702-2AA3-44C7-B968-D365DAA7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9EA5AF-9895-489C-9265-D32BC7A8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433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Subsystem to SMS provider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DA73DE-73D3-414E-A10A-B3240646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D30DC4-12D4-4258-8E42-3B0CC692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Personal computer to smartphone</a:t>
            </a:r>
          </a:p>
        </p:txBody>
      </p:sp>
    </p:spTree>
    <p:extLst>
      <p:ext uri="{BB962C8B-B14F-4D97-AF65-F5344CB8AC3E}">
        <p14:creationId xmlns:p14="http://schemas.microsoft.com/office/powerpoint/2010/main" val="504435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9DF5D-ABCF-4B5A-A460-CDD426A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LINDDUN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6F553-7491-497D-979F-7AC69D14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Seven questions guide the threat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48908-4B0E-4D7F-A2D0-22FF192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8C28C-120E-41D4-805C-5B81BAAD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D7E1D-17C4-4426-B8F1-BECAEF2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E73FB-35A9-41E9-B16A-E5E92A09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6687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06F1A-5F48-47D0-8D5D-8332707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38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D947A-4F22-4229-8B9A-C6847CD9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38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5B27B-D82C-4B48-8B2E-937EEE7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8573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Linkability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97245-3A62-4DE9-ADB8-1CEA2350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Can contexts be connected?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D602E-CA76-4981-9A89-6CCF835F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6687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F3007-B1CA-4BB0-878A-E05A5AC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25695-4902-49CA-BF66-54E2CC41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6C8A5-2474-4EB7-AACD-11521F08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573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Identifiability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7155A-541F-42D6-9A74-704F7FA0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50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Can a person be re-identified?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B1BBB-DCF1-4CA9-A093-52C38DD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6687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D3060-350A-4DC8-B4A0-902C33A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38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55D82-35F7-42F5-8851-12A2D4FA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38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AEDC6-E8FA-4369-A7F7-94BE427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573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Non-repudiation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23E5A-29EC-497B-9998-050AECEA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050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Does the system create excess proof?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41D6A-DC90-44AA-80BA-65496269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6687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A6154-6870-4330-B140-0DAFB86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838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9679A-F5D4-472D-83AB-C0D92C19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838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22B16-ACB9-4775-A961-C6AF945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8573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Detectability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3154E-AB48-4001-AE72-8F622C14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Can activity be observed?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61D12-C4F9-4A65-B42F-DF53AB05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195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655FA-4FB0-4F35-A569-DFD2623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0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4FFFA-5225-4CA9-BF9F-DD7922E3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0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5B195-2F5D-4A27-B198-04AFAA1E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810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Data Disclosure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70E45-F63B-4490-9335-4D154EE6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577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Can data reach the wrong party?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F0E7F-35C9-455A-9509-F2C649DB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95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227B6C-E12B-4146-9ADB-D07DE4A3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90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0A65D2-2D73-42ED-A937-8005E68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90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FFB23-0447-47DA-80CB-7CA5B35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10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Unawareness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C959C-5312-48D6-B4B2-EFAC0969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577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Does the person understand processing?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1589CB-C391-46F7-9D1E-A4FF71AD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195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F477D3-A739-4861-981B-1EC60C32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90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04E74F-DA12-42E4-9480-23520B3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90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218D5D-432D-4A4F-A7AF-383CD0A9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10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Non-compliance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41F8F-5AEE-4276-AD9E-6BF5D32C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577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Can duties remain unmet?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C1DAE9-9EA1-4C87-A1A0-E45FA773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578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The original team assignment covered Identifiability and Unawareness. The public edition adds the remaining categories as a labeled portfolio extension.</a:t>
            </a:r>
          </a:p>
        </p:txBody>
      </p:sp>
    </p:spTree>
    <p:extLst>
      <p:ext uri="{BB962C8B-B14F-4D97-AF65-F5344CB8AC3E}">
        <p14:creationId xmlns:p14="http://schemas.microsoft.com/office/powerpoint/2010/main" val="1938747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42822-C75E-4569-9506-E2DAD2C4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DATA FLOW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D930D-3758-4980-A7E9-E50F73B4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largest exposure crosses the data store and provider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3BB0B-48D3-4097-8D60-2BEAEB7E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14D46-F959-4511-B505-B9392909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184F0-D38A-45BF-9E54-895D7B1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418C6-FF32-40B5-ACDA-66E6B3C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8A194-4C74-4F3A-BB03-0F128E9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Student portal</a:t>
            </a:r>
          </a:p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and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FDFAB-B6B5-413A-99CB-6428EC1B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219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Student database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Identity • grades •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619C3-72EC-49E2-98FC-12794CC2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backup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583A8-58D3-4448-8594-55FD702E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Evaluation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59E82-ECAE-4E8D-913F-7ADE05F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SMS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0B4E3-8A77-4A6A-A773-4C316547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Personal smartphone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14550" y="2724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72050" y="2724150"/>
            <a:ext cx="83820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7C3AED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001000" y="1905000"/>
            <a:ext cx="1190625" cy="823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D3EE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01000" y="2728913"/>
            <a:ext cx="1190625" cy="747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7C3AED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7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924300" y="3305175"/>
            <a:ext cx="1885950" cy="1724025"/>
          </a:xfrm>
          <a:prstGeom xmlns:a="http://schemas.openxmlformats.org/drawingml/2006/main" prst="bentConnector5">
            <a:avLst>
              <a:gd name="adj1" fmla="val 0"/>
              <a:gd name="adj2" fmla="val 13260"/>
              <a:gd name="adj3" fmla="val 87879"/>
            </a:avLst>
          </a:prstGeom>
          <a:ln xmlns:a="http://schemas.openxmlformats.org/drawingml/2006/main" w="28575">
            <a:solidFill>
              <a:srgbClr val="F59E0B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400175" y="3067050"/>
            <a:ext cx="1476375" cy="1962150"/>
          </a:xfrm>
          <a:prstGeom xmlns:a="http://schemas.openxmlformats.org/drawingml/2006/main" prst="bentConnector5">
            <a:avLst>
              <a:gd name="adj1" fmla="val 0"/>
              <a:gd name="adj2" fmla="val 11650"/>
              <a:gd name="adj3" fmla="val 84516"/>
            </a:avLst>
          </a:prstGeom>
          <a:ln xmlns:a="http://schemas.openxmlformats.org/drawingml/2006/main" w="28575">
            <a:solidFill>
              <a:srgbClr val="22D3EE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98294-9B6B-43DD-B1A4-95E639E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TB3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A32FA-BCE4-42FC-BCA7-72B2D81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TB2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0E711-C0C8-4DAF-A6AC-93FCB3BE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243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TB4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F23D9-2019-4095-8BDC-4FC18849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TB5</a:t>
            </a:r>
          </a:p>
        </p:txBody>
      </p:sp>
    </p:spTree>
    <p:extLst>
      <p:ext uri="{BB962C8B-B14F-4D97-AF65-F5344CB8AC3E}">
        <p14:creationId xmlns:p14="http://schemas.microsoft.com/office/powerpoint/2010/main" val="937120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C6AAF6-8EBD-46FB-958D-32BA0A03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RISK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2C20A-6EF7-4D68-A5CA-D262FD9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Concentrated records and cloud copies drive the priority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05CB2-B4E7-4B9B-952A-735214B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51A74-2150-405D-8F76-193B783E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367AE-B036-4862-8FE9-B2CFEA2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5A900-5392-406C-8DF5-D8916AEE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F090C-4D9B-4E56-90A4-9F868A9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8598-C5CC-44B0-89CD-BF93F74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19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6C475-633F-4862-8F01-42AA00A5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145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35E5A-C777-4CFA-B23B-66700F20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19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A77B9-12AD-45DC-8750-89C9779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145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5EE10-CA37-4317-BC01-B3A9D00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19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75B7D-B7BC-4D9F-BB77-84B69753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99274-A7A0-4640-818E-5D8C6CB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797C8-2199-47E6-955F-FB63B48F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C683F-9685-4B2B-B004-B72B7E67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19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67818-D67A-4030-ACD7-8DA1998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B516A-2035-43E5-96E5-90B0DE1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A19F8-859F-48BE-BEF7-18E8C2FF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994DA-0747-416B-824B-B4C8CE1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982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5429C-831F-47E1-8454-C6C366E0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146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F2407-2922-49DB-9713-FA758C4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982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D71AE-AFC9-4E58-9283-343DA76F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1E4EE-B69A-4469-B256-2D5051D3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982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D324-15D8-4F34-90F4-961B98EA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70058-780E-4A26-8707-BB379E6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982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D4986-4F29-4EFF-8605-457F23E4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146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E1E24-B582-40B2-96FD-7A0CB66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0189C-1C9C-479C-A940-05D8DE5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23EA84-144A-49EE-9052-1938E4E6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947B0-D391-42D4-AD5F-34DA32E8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F2C44-7222-421A-AA42-BE17386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9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C63042-AC56-4C03-A832-D7D70385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D5D5E8-C125-4054-AEF6-301D8122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09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6A8A3C-9378-46AD-B2EC-DEC409E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60AC6-6BB7-48E7-92E2-8AF7812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9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C4CF70-C390-44FE-9B25-E57EC70C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ACFB72-0094-4559-AB8A-B3500AFC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99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DBAC50-AC08-4C9A-BE9A-4C6A4719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49369F-906E-474E-94E6-C594378C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C5D2C9-0450-4F3F-BAFB-4EB19CA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D1B785-4132-4FFD-B3CF-53C87674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0047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DDCCD6-B901-4054-9A58-8A000A0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07D6D0-EA3F-4B90-BA81-7F282258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FE6EB1-6911-4D0E-ABD4-7EBD83F6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05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D6F862-F2C1-47CC-856D-D7956B4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0047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2C8C90-4872-4A93-82A7-20A5A856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05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0F9949-D55B-4231-A9ED-49D2D9C2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00475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5514F4-49D4-4EA1-9294-CA36CA7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05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AD74F4-F7DD-415B-A2BA-905CFB3A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F2C173-ED14-4DFB-928E-F05ABF2A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BCC380-FE30-4B19-BB6D-F19BBDA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005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CFD669-4B44-4C02-9B23-28A80E6E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958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D4A9C6-674E-449D-8636-1F349AE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30DDE7-DF18-4140-8A32-6772594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35A556-58CE-4C9E-8CB7-A8A87D2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005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776F27-0325-4829-AD4A-59C5C33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958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C4C880-EE3D-4058-8913-99312C52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005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7214DD-0981-4BA9-A0C2-15FF0614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685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07112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FE1099-8B25-43B2-902D-E38C5C8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005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74EF1C-0F16-4ADA-80F2-D4DBFC60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903492-06BD-4B13-A492-FE983CB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Likelihood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177CCF-DFDE-466D-B07B-E52B8B2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95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0CBD62-0ACE-4AFD-8A59-1976491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95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B914C7-08DD-4372-9E5E-0605B09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095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0FB734-D2FA-42E9-838E-8C841F0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095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0F3152-F6C8-4E5E-8D91-3B9FE539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93271F-0CCF-4ACE-9C1B-6CBEBD6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Top scenarios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D3BA2B-768A-4FBF-8F04-2BFF2C21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286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9AC2BB-2705-426C-BC36-3816A87E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I-01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71B28B-35DE-4189-9322-544B04B3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764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Combined records re-identify a student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7C87BA-6565-4F16-B23D-F4C0E3C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7647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AD0E9C-44F3-474C-AEF3-4DE7541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5286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7EE20B-936D-4E3A-AC05-DD9DC9C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L-01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FDE5DE-E5B1-4ED5-B76D-EE2233C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194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Stable identifiers link activity across purposes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D8FD6B-3333-4FC2-A5EF-7966AAC0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194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90E49C-E520-4B16-8E37-3FB6DDA8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6650"/>
            <a:ext cx="5286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8A5D22-CE16-4177-A278-C3F2704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719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U-01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66CFE6-A876-46FD-BAC1-1991CEA8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backup remains invisible to students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278027-B98F-4D9F-A739-996290F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6237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F8BF7F-98B0-435C-8169-DB495FA6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19600"/>
            <a:ext cx="5286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6FE679-BFEE-4DB9-84DE-D08A4E9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148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DD-02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EFF88D-67F5-46FA-AA5C-AA730AE8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incident exposes complete records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64131B-0F8F-4C92-9676-1AD097C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053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A8E0AF-D3FF-44CF-A7B0-52A93EB8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286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A7E221-AA9A-4F25-961B-5A75290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578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NC-02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9ACB41-328F-4CF3-8A3E-3BCBF23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482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Processor evidence remains incomplete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DBC087A-0C1A-465F-9878-ED4DCDA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4827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6088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2D1412-8CDA-4BC9-901F-FB42E93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ORIGINAL ACADEMIC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7E78B-E540-48CE-92F3-52376F4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assigned analysis found eight concrete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7A55B-594D-40F8-8141-7BDD601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E0CB-BFF1-468E-BE8E-91E345C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1A8DD-258D-41B2-8F20-237D49C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3D51F-E1C5-4505-A9D3-80D9CB0A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Identifiability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8E7FC-B07D-4382-9EB7-98D45941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Unawareness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D2A15-6273-49F9-B84E-7D31011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0BCE-2F19-4BE0-BD57-B68F04C3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99DD9-0DAA-4635-A151-8473CE48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I-01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DCF95-1914-4D64-BCA3-4CD985E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Combined records enable re-identification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19FF0-F5BD-4CF6-AF6F-099B7EC8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42447-3269-467B-8006-A9F5A7F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D9C97-19C8-4C7B-9E24-7B80BA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I-02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DD538-E321-4CFC-BC6A-C66C20D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099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Small cohorts expose individual students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1A4CE-75B2-492E-A68D-F30BB154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DEE2D-F2B4-45E4-8835-ABCB955F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DF515-D143-4093-B4E4-7EAA9E1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I-03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C5778-7DC4-4CA6-B2B2-BBE2FEA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624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Bluetooth exposes named academic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CA31B-F834-49E6-B9C3-31D5FDB2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A15EF-0F0C-4582-9504-D321843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BD13C-F0D1-47E6-8961-FC14838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I-04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B7D1E-ED9D-4DC8-82B2-055C7B2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149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copies preserve direct identifiers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21576-7A92-4AB9-B26F-3149E50B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072AD-AE17-4888-A651-B4C517A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4FE79-4D87-462F-AF94-8776C2F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U-01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AA313-5FF6-4835-AA15-E197451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574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backup lacks clear student notice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391E6-3052-49B5-95D0-64829BD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0A05B-6E12-4768-AB26-2082B37B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02C9EC-BC13-4459-B297-13E12D6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U-02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88F6C-F06B-4DC8-92F0-4FB13E5E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SMS processing and retention are unclear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C18E4-BA3D-48DB-970E-73DA4E2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0D2D8-DBE8-4925-8E21-0E08EAB3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AD0AF1-2A24-4154-8060-438F6576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U-03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D16939-685C-460F-90B1-04FCB92A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624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Instructors misunderstand access limits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25792F-FD26-4064-917A-9B252FA0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D69585-3667-44AD-9D7B-06524964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723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A47F6A-4E5F-48C1-87C0-9037EEC1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U-04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00BAA2-3D0F-4129-A16A-85C29A32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14925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Delegated registry processing is hidden</a:t>
            </a:r>
          </a:p>
        </p:txBody>
      </p:sp>
    </p:spTree>
    <p:extLst>
      <p:ext uri="{BB962C8B-B14F-4D97-AF65-F5344CB8AC3E}">
        <p14:creationId xmlns:p14="http://schemas.microsoft.com/office/powerpoint/2010/main" val="1199079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976D2B-6CA7-4C3D-A44F-7DDD73D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PUBLIC EDITION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92AB3-AAD5-4EC0-BACA-5C8B3F7D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portfolio extension completes the category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8E0BD-CE29-4557-8D50-30F04C06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DCDCE-B145-4215-AEBC-42FB40C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B9A4D-BACB-4744-B9F2-2697B52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CDBEB-4CCC-4D6E-BA8F-447FBBA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57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97B52-814A-4F66-BC63-9CACA7D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2E403-70FE-4FA1-8612-E6BE63F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Linkability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D5B4D-2FCD-40A7-B94A-E793344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859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Stable identifiers and backup row keys connect contexts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A8B06-426D-4A9B-9498-AB6B437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L-01  L-02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F54E8-5B13-475D-9011-87F09388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057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D10B8-673D-4F48-BAAB-229290B1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C7677-4932-47A3-8464-6834832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Non-repudiation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22345-DC77-457A-8979-EBE521C8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003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Audit and SMS metadata create durable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95FC8-0031-4475-9E5B-7A48EFB0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NR-01  NR-02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5FB32-6E38-4D3A-B6FE-B82E0C5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1057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97FED-CD71-4F04-B138-C6FC6BBB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3D22E-6312-41B0-8572-4D952EC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Detectability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FCE72-EBAA-464B-BE51-3842DEAB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14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Timing and volume reveal student or system activity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E667D-6025-4C03-9DEF-936B100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D-01  D-02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8B85D-4913-45B3-A582-2BBF99F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1057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2D39C-1F15-45D8-A467-64CF6F2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CA66C-677A-464D-9B1B-23FFBEB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Data Disclosure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CADEE-BBDD-4D71-AD35-232543D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9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Unmanaged transfer and cloud incidents expose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39187-8672-45DC-8A3E-16EE010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DD-01  DD-02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1612E-BB29-41E5-98A9-69C1DA96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29225"/>
            <a:ext cx="1057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A81491-61E2-4C0A-B789-5E728F9F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29225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00EF7-6F44-4CB3-A4B3-7CE0B4E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Non-compliance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8BB87-E8C5-4DC6-99AD-4FE3ADB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43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Retention and processor evidence remain unproven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45CFE-BCBF-433B-A6C0-5FF24527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530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B0C5"/>
                </a:solidFill>
                <a:latin typeface="Arial"/>
                <a:ea typeface="Arial"/>
                <a:cs typeface="Arial"/>
              </a:rPr>
              <a:t>NC-01  NC-02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686C1-175D-4515-87B1-6CC2709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91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397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Every extension scenario is labeled in the threat register so reviewers can distinguish academic work from later portfolio development.</a:t>
            </a:r>
          </a:p>
        </p:txBody>
      </p:sp>
    </p:spTree>
    <p:extLst>
      <p:ext uri="{BB962C8B-B14F-4D97-AF65-F5344CB8AC3E}">
        <p14:creationId xmlns:p14="http://schemas.microsoft.com/office/powerpoint/2010/main" val="117658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8A1B0-7D65-4089-A9C7-C852F6FC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MITIGATION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42008-6E0F-4C0D-9B03-AF8A0659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Controls follow the order of risk reduction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E1F95-5D70-4EA6-A161-9EA6493B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65EB7-37F1-46F8-8B80-92147E6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29ED3-D41B-46ED-925F-D9EAAC6F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33ACF-D230-42BB-8914-9AFBFD5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238500" cy="366712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D557E-D1A6-45E4-93CE-29FD58BA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56754-B0FB-421C-8773-9BFDA4AB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0175D-AECC-4DBB-B803-9E3EAA56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Reduce concentrated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8AFD9-21CF-4FF0-BEDB-DE61351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C01 data minimization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C03 field-level authorization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C04 isolated encrypted backups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EBEA4-C687-487F-92F0-FA8067C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238500" cy="366712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D1CBC-B6D3-42E1-8012-7C89F8F3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FE205-F2CD-4F46-BF93-73CB13FE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32714-484F-4B8D-8007-B4A2001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Restrict linkage and secondary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FE642-FDFE-4F00-97B8-1322AB66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C02 scoped identifiers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C05 statistical disclosure control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C06 protected export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C07 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50D23-B707-4FE5-8B1B-AE07ED80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238500" cy="366712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ED775-AA80-441A-8E1E-4496E930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1DFF9-7335-49B4-8334-2E5292EB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0711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104F5-A307-41B7-BC24-39ADD8AD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Make processing visible and auditable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17758-CA1C-4A49-BB35-2E777F28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C08 provider assurance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C09 just-in-time notices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C10 access review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C11 metadata reduction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C12 evidence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905250" y="35956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0C5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67625" y="35956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0C5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310F3-638C-4571-BE08-6AFEA75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Residual risk is accepted only after the evidence passes</a:t>
            </a:r>
          </a:p>
        </p:txBody>
      </p:sp>
    </p:spTree>
    <p:extLst>
      <p:ext uri="{BB962C8B-B14F-4D97-AF65-F5344CB8AC3E}">
        <p14:creationId xmlns:p14="http://schemas.microsoft.com/office/powerpoint/2010/main" val="1699149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995C51-A46C-4438-9200-E1E59FD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A54AF-DAA8-47AA-9C05-72EAEDC8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Each material threat ends with a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4DC47-8F27-476F-8986-0F780EB3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B3B56-0C8A-4751-8098-93B59A8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CD326-734D-463F-91A5-D0616835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2349C-7F0E-4838-BB4E-CABCF33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Threat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4BFB4-A552-4A3F-B8CC-B6B38277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240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90FEE-6266-459A-B38D-FBFDCE7E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F583-081B-4462-81D1-C7AC548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DF875-086A-405B-9B8E-540C92F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24F10-F5EE-4E37-8429-223B901E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I-01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Combined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6ED89-7F0F-4CAA-B951-16CA8028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7F8B6-66B1-4FE6-B2CA-8151C58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85975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Expose only required attributes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448D6-EE67-44D5-ACFB-1F43A8B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297D7-5D08-402A-8CDC-12BAE83F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85975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C01 + C03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Minimize and authorize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3DA5C-AEAC-40BC-9180-0DD5301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DC5D1-9EFE-4D54-84C1-CCCBBB7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85975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V01 + V03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Field and denial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A6F1B-F625-4690-BB11-4496BB40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2C149-5507-4280-A217-3A3CC27E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I-02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Small cohorts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6A7DB-9A52-443F-8C4B-7289D54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0375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F74BD-10AC-417D-9620-CB0F5E3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Prevent statistical re-identification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CE37D-B8C5-449A-96C0-6A1D412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B93A6-B8A0-4B31-B2AD-BA7A6A4F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6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C05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Threshold and suppression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D13E3-C7D4-4EC3-A1C0-D649DEBD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5ACC2-40A2-40C2-96FF-B4BC42A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V05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Small-group queries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A5F1A-E12C-432A-8C48-530A67F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7D928-BD5F-4914-B4A3-996DFB6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U-01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Hidden cloud copy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693A4-99ED-406A-8371-2AD88EFC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97FFA-A526-4D2B-B379-054B02E3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86225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 provider, purpose, 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0C8D3-367F-4B8F-8FB8-2073E2C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1BB15-1C94-4D8B-8DF2-121BB8A6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86225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C09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Layered notice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E648B-CA8B-4E9A-8A66-1E7F581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30000-7FD1-483F-8B00-A47DD55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86225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V09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Task-flow comprehension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41FFA-3E99-4CBE-8AD7-AFEDAC31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4AF358-DB4D-4781-979B-B1A831A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DD-02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Cloud incident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C23C2A-DB75-4D97-8D1C-D005093B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00625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AA711C-6D48-4546-83E3-5A9F369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863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Keep backup unreadable and isolated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357816-9046-4DF7-9074-8D09BA89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00625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710D3A-0E19-454B-8D5E-8B6FCEDF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863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9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C04 + C08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Keys and provider assurance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53F254-21B4-4EFE-AE97-370BF33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776C68-3F73-4BEE-8FAD-84AEBD5C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8635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V04 + V08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Restore and contract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020DA6-4FB9-4595-AE85-5FAC37BD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0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The CSV register preserves this chain for every scenario</a:t>
            </a:r>
          </a:p>
        </p:txBody>
      </p:sp>
    </p:spTree>
    <p:extLst>
      <p:ext uri="{BB962C8B-B14F-4D97-AF65-F5344CB8AC3E}">
        <p14:creationId xmlns:p14="http://schemas.microsoft.com/office/powerpoint/2010/main" val="16973831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84AC2-360C-4E06-93A4-2CE2FFA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ACCEPTANCE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F488C-E491-45B6-94D2-FE4CF56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Verification spans the full control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6E88D-7F0A-459B-88FA-1A89CAAF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BDE83-D43C-4DDC-9DBB-594B5CA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426EA-5A9A-4259-A0F8-9BAF4279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D93C-857B-4BD6-82C9-52F559D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048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D79EB-0453-45EB-AD38-9E1D5EC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61087-204D-4752-87BA-1DF8251A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Data and identifiers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0F8B3-ED5C-4D77-A417-4DF5BAFF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V01 field inventory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V02 linkage attempt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V07 retention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02CFA-01FC-44E7-BC6D-3F0D69C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48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B9F58-4DB8-4213-B916-2F48884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C3A2A-6F50-4CB5-A22F-DB81BEF8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Access and infrastructure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A2E5D-6D10-4631-B6F9-892EDF75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V03 authorization tests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V04 backup key 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V10 access sampling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3EF0B-9E14-4432-B7F8-DBB73E4A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048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B0713-2DA2-4A33-B9D0-2FDD3B1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F264B-AE96-419E-8847-8B3D14C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Disclosure and user 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826B0-8D11-436D-955A-E4DF8DAE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3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V05 small-cohort queries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V06 export expiry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V09 notice comprehension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V11 metadata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B4F0D-203D-47F0-8426-C07D0450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048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6F55D-89BB-48D8-B9DE-87C32E69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4FECC-46DE-4058-A2C2-D4A209BC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2B54F-2E70-4BE0-9FFE-92C80128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V08 processor evidence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V12 residual-risk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E0EFE-E4D1-4C80-B520-BD5C6BE9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named owner records pass or fail evidence before residual-risk approval</a:t>
            </a:r>
          </a:p>
        </p:txBody>
      </p:sp>
    </p:spTree>
    <p:extLst>
      <p:ext uri="{BB962C8B-B14F-4D97-AF65-F5344CB8AC3E}">
        <p14:creationId xmlns:p14="http://schemas.microsoft.com/office/powerpoint/2010/main" val="2065677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AFF3F-3CAC-4E5D-9AF4-6A7E018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PROJECT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91A6A-8ADE-49DE-8DB2-418D8C46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Project evidence and validation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0078E-BAD7-4B2A-8159-51928873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59B19-241B-4EE5-801B-12DCBE3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LINDDUN student system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F906D-57E3-45E4-A7C8-788DA35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54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23AD0-3F98-46EF-A278-ABE7971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0958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DF924-519D-4E82-BC48-94DD192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1ACCE-57C7-436B-95F8-67B232E4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BE848-1E1A-4DB4-8696-D3AB60E3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Structured privacy threat modeling from a DFD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522BD-D119-4D0C-B3A9-E890354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78C30-6F38-43D8-8782-160BB940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Clear separation of original and extended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91C65-17C8-4791-8E1D-2CCD8AB9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75808-AEB2-4734-B65E-479C30C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Traceable requirements, controls, and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C7FFC-8675-4C10-9F0C-A4F4E32D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F5DBD-4182-43CA-968F-F4FF3682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Responsible removal of personal identifiers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4970E-73EE-4326-B884-8BE5C78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958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111C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1B0F1-C198-4936-B5BA-8F998C9A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Requires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12348-301E-4033-8A5D-2FD7147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EDBD2-37D1-4628-BC50-2B400AD1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Production architecture and 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1EE82-FE62-425E-95F9-8CC6F5B9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0A8A4-0422-41FC-862F-352D3DCB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Stakeholder interviews and DPIA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D4FE1-9FAF-46C8-B94E-6EFF47CA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0CD75-2406-437B-989C-964760E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Provider contracts, transfers, and 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1EFA0-AC14-41E3-8824-A6FF5DFB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8085F-5D3E-4AD2-9001-882E4320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14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Measured control effectiveness and residual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29B39-F7B0-47F7-84FA-F73A6B6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Primary sources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4C5FA-794C-4774-80CF-286222A8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2E8F0"/>
                </a:solidFill>
                <a:latin typeface="Arial"/>
                <a:ea typeface="Arial"/>
                <a:cs typeface="Arial"/>
              </a:rPr>
              <a:t>LINDDUN  •  NIST Privacy Framework catalog  •  GDPR  •  Hoepman privacy design strategies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45F48-75A9-45EF-B7C5-B11D601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A7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B0C5"/>
                </a:solidFill>
                <a:latin typeface="Arial"/>
                <a:ea typeface="Arial"/>
                <a:cs typeface="Arial"/>
              </a:rPr>
              <a:t>Public portfolio edition prepared by Spyridon Grouztidis from a four-person academic team project</a:t>
            </a:r>
          </a:p>
        </p:txBody>
      </p:sp>
    </p:spTree>
    <p:extLst>
      <p:ext uri="{BB962C8B-B14F-4D97-AF65-F5344CB8AC3E}">
        <p14:creationId xmlns:p14="http://schemas.microsoft.com/office/powerpoint/2010/main" val="1913455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2026-10-14T23:26:13.2300000Z</dcterms:created>
  <dcterms:modified xsi:type="dcterms:W3CDTF">2026-10-14T23:26:13.2300000Z</dcterms:modified>
</coreProperties>
</file>